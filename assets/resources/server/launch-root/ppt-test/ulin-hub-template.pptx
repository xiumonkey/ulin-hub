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783C2-88F5-4488-BA0A-6FFED258A69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BDDF3-DA29-48ED-9A70-825C363DFF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984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封面页备注：本套模板由 </a:t>
            </a:r>
            <a:r>
              <a:rPr lang="en-US" altLang="zh-CN"/>
              <a:t>DSH Hub PPT </a:t>
            </a:r>
            <a:r>
              <a:rPr lang="zh-CN" altLang="en-US"/>
              <a:t>扩展程序化生成，用于验证 </a:t>
            </a:r>
            <a:r>
              <a:rPr lang="en-US" altLang="zh-CN"/>
              <a:t>COM </a:t>
            </a:r>
            <a:r>
              <a:rPr lang="zh-CN" altLang="en-US"/>
              <a:t>自动化链路。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BDDF3-DA29-48ED-9A70-825C363DFF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490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BE99D-388A-09EA-D624-6D7323210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B06AD7-7F5B-18EE-54D4-6F50AAF82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5A74BB-741B-22E3-BF4B-78957EBE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356D09-9C87-EC08-1CD9-6ED3F22F9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A804F-9F93-0737-E29B-DBE9587D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12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26AFC-735B-AFD8-A68C-4F9E0A87E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E5F84-A6D8-6B8B-C35A-4D51CD276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C26F1-6A4E-385A-9DD3-7B43C76FB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274CAC-DA76-39CB-9734-CF98E130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94AE34-A696-62FC-7750-2CD8476F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79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1F132-AD72-91B5-9259-9768B15A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7EA5AB-FD9A-6CB3-84C2-9D11951FB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0483CB-91F7-8813-D230-0DA3875B0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352C81-5222-E37D-EEA7-EE850061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481AED-11B6-0C0C-13D8-49FB4C9F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69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A2C26-DD5E-1F7E-DBEC-ADC1E809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A9ADC-DF1C-2132-EE7C-92FB69FDC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74B9CF-E54D-211F-D083-ECC820668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97FF0B-33A7-A2AB-5820-A6B8E04D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349D68-2509-A811-2AED-30B85E7C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224F44-9D44-B83D-4335-E246F84BC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67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D50F0-B40C-0241-D10B-E6F3117C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810F9F-CCDF-D539-C818-B923AEABB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98437A-718C-2C77-787E-8E039E501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BAE85A-3415-A3A2-9626-0B603ADCC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156C36-73FC-8EC7-2991-666F1AED9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ABEEB6-2F33-EB3E-81FF-B6A1E10E9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032C12-7E93-F88B-502C-C281B8D37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7B1E2C-79D5-93F4-734D-4513C443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96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FC912-4E45-C419-6267-51CBD3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3B4A76-CADF-0E50-59D2-83A7E579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1FF2B2-5342-42D8-3E5D-3225F6F0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3027B3-D5E0-ACA1-7DC6-5E2D0AC5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33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E05D57-E08D-62EF-4787-74F5CB0E7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8146B2-318E-541C-719B-8FBD4E504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8B8ED9-61EF-D9C0-77A3-6A159FD93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57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793D57-9A92-12B7-3783-FB5C11C1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623CF-73CC-54CD-AE0E-F147E5DC0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3A33C-38B5-8D78-1F72-79AD0CBCE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CA840F-091E-C992-4A52-8021C7C20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AA3280-9E02-E2AC-4C69-19D7D1B3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E5587D-8E3A-67F3-2A7C-AF80E6D1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270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EA781-9B9B-7D83-B85C-D1B30E8C3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7B55D1-5DFB-245F-5B6C-A558BAEF5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F4FC8A-75AF-6F79-6F7D-DB4AC5B38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7B10CF-3DA9-FEDF-C8C6-620B44F19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FA1EC8-6E85-6F11-B5F7-F70EF7D8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23E65B-6A99-3F85-7B4D-E93548B2A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47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37EBF-DC2B-8827-D7CB-B6D786A04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EB1AF5-762A-CBB2-5382-9545CEE04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B1F637-0BF7-380D-0448-36CABD7F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75DFB2-514B-FFEB-28CC-0EF84968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7821B6-77B0-81E3-073F-62B229B2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25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BF295A-32D2-44C1-CBB1-9011EBB9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938173-2B87-CBE6-D01A-704DB7B62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EE5638-4296-C4E2-AAAF-78D766E4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382008-D4F6-FBAB-2413-70217390D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487C5E-1FB6-9C31-B781-40BED909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819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CD502E-A7E2-EF1D-7F12-698F9D33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FDECDB-E376-AA65-4598-786A72C7D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85B482-9AA8-5753-FCBF-2AA2E40EE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8F6B3-8DD7-4768-8400-4ECE7094CEBC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A81280-C6C7-FBD7-3916-21AB929E84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0D4300-809F-6863-DC86-3E5F99485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29EB0-5A61-4A8D-A1EF-E3BFE9961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AD4427-7884-E2CA-50F7-1C9EA4BDFE98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6FBA5D-1AC4-6F5E-2471-E3F59B723DAC}"/>
              </a:ext>
            </a:extLst>
          </p:cNvPr>
          <p:cNvSpPr txBox="1"/>
          <p:nvPr/>
        </p:nvSpPr>
        <p:spPr>
          <a:xfrm>
            <a:off x="1143000" y="2159000"/>
            <a:ext cx="9906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4400" b="1">
                <a:solidFill>
                  <a:srgbClr val="FFFFFF"/>
                </a:solidFill>
              </a:rPr>
              <a:t>DSH Hub </a:t>
            </a:r>
            <a:r>
              <a:rPr lang="zh-CN" altLang="en-US" sz="4400" b="1">
                <a:solidFill>
                  <a:srgbClr val="FFFFFF"/>
                </a:solidFill>
              </a:rPr>
              <a:t>智能演示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D9C3BF-4E91-4F12-932A-09F213CF0641}"/>
              </a:ext>
            </a:extLst>
          </p:cNvPr>
          <p:cNvSpPr txBox="1"/>
          <p:nvPr/>
        </p:nvSpPr>
        <p:spPr>
          <a:xfrm>
            <a:off x="1168400" y="3378200"/>
            <a:ext cx="889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>
                <a:solidFill>
                  <a:srgbClr val="94A3B8"/>
                </a:solidFill>
              </a:rPr>
              <a:t>PowerPoint </a:t>
            </a:r>
            <a:r>
              <a:rPr lang="zh-CN" altLang="en-US">
                <a:solidFill>
                  <a:srgbClr val="94A3B8"/>
                </a:solidFill>
              </a:rPr>
              <a:t>自动化能力演示 </a:t>
            </a:r>
            <a:r>
              <a:rPr lang="en-US" altLang="zh-CN">
                <a:solidFill>
                  <a:srgbClr val="94A3B8"/>
                </a:solidFill>
              </a:rPr>
              <a:t>· 2026</a:t>
            </a:r>
            <a:endParaRPr lang="zh-CN" altLang="en-US">
              <a:solidFill>
                <a:srgbClr val="94A3B8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0346AA4-CE41-006C-6F0A-EAC236A8A393}"/>
              </a:ext>
            </a:extLst>
          </p:cNvPr>
          <p:cNvCxnSpPr/>
          <p:nvPr/>
        </p:nvCxnSpPr>
        <p:spPr>
          <a:xfrm>
            <a:off x="1168400" y="4216400"/>
            <a:ext cx="2540000" cy="0"/>
          </a:xfrm>
          <a:prstGeom prst="line">
            <a:avLst/>
          </a:prstGeom>
          <a:ln w="508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A875D27-F91D-9EA5-C0AE-9D9DD6CC87CE}"/>
              </a:ext>
            </a:extLst>
          </p:cNvPr>
          <p:cNvSpPr txBox="1"/>
          <p:nvPr/>
        </p:nvSpPr>
        <p:spPr>
          <a:xfrm>
            <a:off x="1168400" y="5588000"/>
            <a:ext cx="635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64748B"/>
                </a:solidFill>
              </a:rPr>
              <a:t>汇报人：</a:t>
            </a:r>
            <a:r>
              <a:rPr lang="en-US" altLang="zh-CN" sz="1200">
                <a:solidFill>
                  <a:srgbClr val="64748B"/>
                </a:solidFill>
              </a:rPr>
              <a:t>DSH Hub        </a:t>
            </a:r>
            <a:r>
              <a:rPr lang="zh-CN" altLang="en-US" sz="1200">
                <a:solidFill>
                  <a:srgbClr val="64748B"/>
                </a:solidFill>
              </a:rPr>
              <a:t>机密等级：内部</a:t>
            </a:r>
          </a:p>
        </p:txBody>
      </p:sp>
    </p:spTree>
    <p:extLst>
      <p:ext uri="{BB962C8B-B14F-4D97-AF65-F5344CB8AC3E}">
        <p14:creationId xmlns:p14="http://schemas.microsoft.com/office/powerpoint/2010/main" val="1682884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CB63FEA-6A0E-1D9F-666B-E658234B06D2}"/>
              </a:ext>
            </a:extLst>
          </p:cNvPr>
          <p:cNvSpPr txBox="1"/>
          <p:nvPr/>
        </p:nvSpPr>
        <p:spPr>
          <a:xfrm>
            <a:off x="1016000" y="558800"/>
            <a:ext cx="508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 b="1">
                <a:solidFill>
                  <a:srgbClr val="0F172A"/>
                </a:solidFill>
              </a:rPr>
              <a:t>目录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A2B1D6D-BE7A-696E-7FAF-909EFA9C6FCB}"/>
              </a:ext>
            </a:extLst>
          </p:cNvPr>
          <p:cNvCxnSpPr/>
          <p:nvPr/>
        </p:nvCxnSpPr>
        <p:spPr>
          <a:xfrm>
            <a:off x="1016000" y="1270000"/>
            <a:ext cx="889000" cy="0"/>
          </a:xfrm>
          <a:prstGeom prst="line">
            <a:avLst/>
          </a:prstGeom>
          <a:ln w="635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15F8733-4920-D77E-5B02-0A988E97798D}"/>
              </a:ext>
            </a:extLst>
          </p:cNvPr>
          <p:cNvSpPr/>
          <p:nvPr/>
        </p:nvSpPr>
        <p:spPr>
          <a:xfrm>
            <a:off x="1016000" y="1905000"/>
            <a:ext cx="4826000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rgbClr val="0F172A"/>
                </a:solidFill>
                <a:latin typeface="Microsoft YaHei UI" panose="020B0503020204020204" pitchFamily="34" charset="-122"/>
              </a:rPr>
              <a:t>01  </a:t>
            </a:r>
            <a:r>
              <a:rPr lang="zh-CN" altLang="en-US" sz="2000" b="1">
                <a:solidFill>
                  <a:srgbClr val="0F172A"/>
                </a:solidFill>
                <a:latin typeface="Microsoft YaHei UI" panose="020B0503020204020204" pitchFamily="34" charset="-122"/>
              </a:rPr>
              <a:t>项目背景与目标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08B4576-6221-F77E-6BC3-89CABA60888D}"/>
              </a:ext>
            </a:extLst>
          </p:cNvPr>
          <p:cNvSpPr/>
          <p:nvPr/>
        </p:nvSpPr>
        <p:spPr>
          <a:xfrm>
            <a:off x="6350000" y="1905000"/>
            <a:ext cx="4826000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rgbClr val="0F172A"/>
                </a:solidFill>
                <a:latin typeface="Microsoft YaHei UI" panose="020B0503020204020204" pitchFamily="34" charset="-122"/>
              </a:rPr>
              <a:t>02  </a:t>
            </a:r>
            <a:r>
              <a:rPr lang="zh-CN" altLang="en-US" sz="2000" b="1">
                <a:solidFill>
                  <a:srgbClr val="0F172A"/>
                </a:solidFill>
                <a:latin typeface="Microsoft YaHei UI" panose="020B0503020204020204" pitchFamily="34" charset="-122"/>
              </a:rPr>
              <a:t>核心能力矩阵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03A6FA9-8212-D5BA-3C66-652017F5C102}"/>
              </a:ext>
            </a:extLst>
          </p:cNvPr>
          <p:cNvSpPr/>
          <p:nvPr/>
        </p:nvSpPr>
        <p:spPr>
          <a:xfrm>
            <a:off x="1016000" y="3810000"/>
            <a:ext cx="4826000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rgbClr val="0F172A"/>
                </a:solidFill>
                <a:latin typeface="Microsoft YaHei UI" panose="020B0503020204020204" pitchFamily="34" charset="-122"/>
              </a:rPr>
              <a:t>03  </a:t>
            </a:r>
            <a:r>
              <a:rPr lang="zh-CN" altLang="en-US" sz="2000" b="1">
                <a:solidFill>
                  <a:srgbClr val="0F172A"/>
                </a:solidFill>
                <a:latin typeface="Microsoft YaHei UI" panose="020B0503020204020204" pitchFamily="34" charset="-122"/>
              </a:rPr>
              <a:t>数据表现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2C47385-5D0D-59FF-2FF7-F9FA434F4FEE}"/>
              </a:ext>
            </a:extLst>
          </p:cNvPr>
          <p:cNvSpPr/>
          <p:nvPr/>
        </p:nvSpPr>
        <p:spPr>
          <a:xfrm>
            <a:off x="6350000" y="3810000"/>
            <a:ext cx="4826000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rgbClr val="0F172A"/>
                </a:solidFill>
                <a:latin typeface="Microsoft YaHei UI" panose="020B0503020204020204" pitchFamily="34" charset="-122"/>
              </a:rPr>
              <a:t>04  </a:t>
            </a:r>
            <a:r>
              <a:rPr lang="zh-CN" altLang="en-US" sz="2000" b="1">
                <a:solidFill>
                  <a:srgbClr val="0F172A"/>
                </a:solidFill>
                <a:latin typeface="Microsoft YaHei UI" panose="020B0503020204020204" pitchFamily="34" charset="-122"/>
              </a:rPr>
              <a:t>后续规划</a:t>
            </a:r>
          </a:p>
        </p:txBody>
      </p:sp>
    </p:spTree>
    <p:extLst>
      <p:ext uri="{BB962C8B-B14F-4D97-AF65-F5344CB8AC3E}">
        <p14:creationId xmlns:p14="http://schemas.microsoft.com/office/powerpoint/2010/main" val="96149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464C90-5D58-EF1A-FBD0-704D2FC617EE}"/>
              </a:ext>
            </a:extLst>
          </p:cNvPr>
          <p:cNvSpPr txBox="1"/>
          <p:nvPr/>
        </p:nvSpPr>
        <p:spPr>
          <a:xfrm>
            <a:off x="1016000" y="1778000"/>
            <a:ext cx="5080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600" b="1">
                <a:solidFill>
                  <a:srgbClr val="1E3A5F"/>
                </a:solidFill>
              </a:rPr>
              <a:t>01</a:t>
            </a:r>
            <a:endParaRPr lang="zh-CN" altLang="en-US" sz="9600" b="1">
              <a:solidFill>
                <a:srgbClr val="1E3A5F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C4B825-A8D5-D149-F545-F61634D0324A}"/>
              </a:ext>
            </a:extLst>
          </p:cNvPr>
          <p:cNvSpPr txBox="1"/>
          <p:nvPr/>
        </p:nvSpPr>
        <p:spPr>
          <a:xfrm>
            <a:off x="1016000" y="3632200"/>
            <a:ext cx="8890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000" b="1">
                <a:solidFill>
                  <a:srgbClr val="FFFFFF"/>
                </a:solidFill>
              </a:rPr>
              <a:t>项目背景与目标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FAFBB13-B9B4-85E1-C9C5-47D349885DD0}"/>
              </a:ext>
            </a:extLst>
          </p:cNvPr>
          <p:cNvCxnSpPr/>
          <p:nvPr/>
        </p:nvCxnSpPr>
        <p:spPr>
          <a:xfrm>
            <a:off x="1016000" y="4648200"/>
            <a:ext cx="1778000" cy="0"/>
          </a:xfrm>
          <a:prstGeom prst="line">
            <a:avLst/>
          </a:prstGeom>
          <a:ln w="508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E06536F-DE36-4E92-597C-374FC9034383}"/>
              </a:ext>
            </a:extLst>
          </p:cNvPr>
          <p:cNvSpPr txBox="1"/>
          <p:nvPr/>
        </p:nvSpPr>
        <p:spPr>
          <a:xfrm>
            <a:off x="1016000" y="4953000"/>
            <a:ext cx="762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>
                <a:solidFill>
                  <a:srgbClr val="64748B"/>
                </a:solidFill>
              </a:rPr>
              <a:t>Section 01 · Background &amp; Objectives</a:t>
            </a:r>
            <a:endParaRPr lang="zh-CN" altLang="en-US" sz="16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5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370EF6-1AF9-CBC2-E167-D24347576636}"/>
              </a:ext>
            </a:extLst>
          </p:cNvPr>
          <p:cNvSpPr txBox="1"/>
          <p:nvPr/>
        </p:nvSpPr>
        <p:spPr>
          <a:xfrm>
            <a:off x="1016000" y="558800"/>
            <a:ext cx="508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 b="1">
                <a:solidFill>
                  <a:srgbClr val="0F172A"/>
                </a:solidFill>
              </a:rPr>
              <a:t>数据概览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A91B61-4AB6-044C-7902-B22F8D954B81}"/>
              </a:ext>
            </a:extLst>
          </p:cNvPr>
          <p:cNvCxnSpPr/>
          <p:nvPr/>
        </p:nvCxnSpPr>
        <p:spPr>
          <a:xfrm>
            <a:off x="1016000" y="1270000"/>
            <a:ext cx="889000" cy="0"/>
          </a:xfrm>
          <a:prstGeom prst="line">
            <a:avLst/>
          </a:prstGeom>
          <a:ln w="635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CD3EB8-FE2A-7BE3-4F5F-8697A423C19E}"/>
              </a:ext>
            </a:extLst>
          </p:cNvPr>
          <p:cNvSpPr/>
          <p:nvPr/>
        </p:nvSpPr>
        <p:spPr>
          <a:xfrm>
            <a:off x="762000" y="2159000"/>
            <a:ext cx="2476500" cy="190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5A74584-E38E-E361-7B6D-C390616000AE}"/>
              </a:ext>
            </a:extLst>
          </p:cNvPr>
          <p:cNvSpPr/>
          <p:nvPr/>
        </p:nvSpPr>
        <p:spPr>
          <a:xfrm>
            <a:off x="3619500" y="2159000"/>
            <a:ext cx="2476500" cy="190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746C463-6559-960C-EE43-62A1E3A643CA}"/>
              </a:ext>
            </a:extLst>
          </p:cNvPr>
          <p:cNvSpPr/>
          <p:nvPr/>
        </p:nvSpPr>
        <p:spPr>
          <a:xfrm>
            <a:off x="6477000" y="2159000"/>
            <a:ext cx="2476500" cy="190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B4ECDA3-87B3-0818-6A1D-39AFE0CB3816}"/>
              </a:ext>
            </a:extLst>
          </p:cNvPr>
          <p:cNvSpPr/>
          <p:nvPr/>
        </p:nvSpPr>
        <p:spPr>
          <a:xfrm>
            <a:off x="9334500" y="2159000"/>
            <a:ext cx="2476500" cy="190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FA594A0-C8F3-AD91-9778-BC05B112066A}"/>
              </a:ext>
            </a:extLst>
          </p:cNvPr>
          <p:cNvSpPr txBox="1"/>
          <p:nvPr/>
        </p:nvSpPr>
        <p:spPr>
          <a:xfrm>
            <a:off x="762000" y="2540000"/>
            <a:ext cx="24765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F172A"/>
                </a:solidFill>
              </a:rPr>
              <a:t>+38%</a:t>
            </a:r>
            <a:endParaRPr lang="zh-CN" altLang="en-US" sz="3200" b="1">
              <a:solidFill>
                <a:srgbClr val="0F172A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8A4ABE-1869-0E11-5651-60EE162DDE8F}"/>
              </a:ext>
            </a:extLst>
          </p:cNvPr>
          <p:cNvSpPr txBox="1"/>
          <p:nvPr/>
        </p:nvSpPr>
        <p:spPr>
          <a:xfrm>
            <a:off x="3619500" y="2540000"/>
            <a:ext cx="24765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F172A"/>
                </a:solidFill>
              </a:rPr>
              <a:t>1,284</a:t>
            </a:r>
            <a:endParaRPr lang="zh-CN" altLang="en-US" sz="3200" b="1">
              <a:solidFill>
                <a:srgbClr val="0F172A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19A53B-0CB1-9DEF-5B9C-DDABD5D1DE9B}"/>
              </a:ext>
            </a:extLst>
          </p:cNvPr>
          <p:cNvSpPr txBox="1"/>
          <p:nvPr/>
        </p:nvSpPr>
        <p:spPr>
          <a:xfrm>
            <a:off x="6477000" y="2540000"/>
            <a:ext cx="24765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F172A"/>
                </a:solidFill>
              </a:rPr>
              <a:t>96.5%</a:t>
            </a:r>
            <a:endParaRPr lang="zh-CN" altLang="en-US" sz="3200" b="1">
              <a:solidFill>
                <a:srgbClr val="0F172A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38AE14-C16C-E5C4-F2DC-4517F7143FDE}"/>
              </a:ext>
            </a:extLst>
          </p:cNvPr>
          <p:cNvSpPr txBox="1"/>
          <p:nvPr/>
        </p:nvSpPr>
        <p:spPr>
          <a:xfrm>
            <a:off x="9334500" y="2540000"/>
            <a:ext cx="24765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F172A"/>
                </a:solidFill>
              </a:rPr>
              <a:t>12ms</a:t>
            </a:r>
            <a:endParaRPr lang="zh-CN" altLang="en-US" sz="3200" b="1">
              <a:solidFill>
                <a:srgbClr val="0F172A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766F86B-36EA-6D3D-7D72-BE047EE55599}"/>
              </a:ext>
            </a:extLst>
          </p:cNvPr>
          <p:cNvSpPr txBox="1"/>
          <p:nvPr/>
        </p:nvSpPr>
        <p:spPr>
          <a:xfrm>
            <a:off x="762000" y="3200400"/>
            <a:ext cx="2476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400">
                <a:solidFill>
                  <a:srgbClr val="64748B"/>
                </a:solidFill>
              </a:rPr>
              <a:t>季度增长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DB331D-4E7B-5CF0-D9C7-975A89AAFA5D}"/>
              </a:ext>
            </a:extLst>
          </p:cNvPr>
          <p:cNvSpPr txBox="1"/>
          <p:nvPr/>
        </p:nvSpPr>
        <p:spPr>
          <a:xfrm>
            <a:off x="3619500" y="3200400"/>
            <a:ext cx="2476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400">
                <a:solidFill>
                  <a:srgbClr val="64748B"/>
                </a:solidFill>
              </a:rPr>
              <a:t>活跃用户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B34BEE-89FD-0A30-F74F-59AC8490AA99}"/>
              </a:ext>
            </a:extLst>
          </p:cNvPr>
          <p:cNvSpPr txBox="1"/>
          <p:nvPr/>
        </p:nvSpPr>
        <p:spPr>
          <a:xfrm>
            <a:off x="6477000" y="3200400"/>
            <a:ext cx="2476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400">
                <a:solidFill>
                  <a:srgbClr val="64748B"/>
                </a:solidFill>
              </a:rPr>
              <a:t>任务成功率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42CD32-FBB8-E356-69AE-D9347D076969}"/>
              </a:ext>
            </a:extLst>
          </p:cNvPr>
          <p:cNvSpPr txBox="1"/>
          <p:nvPr/>
        </p:nvSpPr>
        <p:spPr>
          <a:xfrm>
            <a:off x="9334500" y="3200400"/>
            <a:ext cx="2476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400">
                <a:solidFill>
                  <a:srgbClr val="64748B"/>
                </a:solidFill>
              </a:rPr>
              <a:t>平均响应</a:t>
            </a:r>
          </a:p>
        </p:txBody>
      </p:sp>
    </p:spTree>
    <p:extLst>
      <p:ext uri="{BB962C8B-B14F-4D97-AF65-F5344CB8AC3E}">
        <p14:creationId xmlns:p14="http://schemas.microsoft.com/office/powerpoint/2010/main" val="1149672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A72AD3F-E675-F689-F3A3-6C258F8DD230}"/>
              </a:ext>
            </a:extLst>
          </p:cNvPr>
          <p:cNvSpPr txBox="1"/>
          <p:nvPr/>
        </p:nvSpPr>
        <p:spPr>
          <a:xfrm>
            <a:off x="1016000" y="558800"/>
            <a:ext cx="508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 b="1">
                <a:solidFill>
                  <a:srgbClr val="0F172A"/>
                </a:solidFill>
              </a:rPr>
              <a:t>月度趋势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569DF2A-48FE-2B5C-22F2-807394DB745F}"/>
              </a:ext>
            </a:extLst>
          </p:cNvPr>
          <p:cNvCxnSpPr/>
          <p:nvPr/>
        </p:nvCxnSpPr>
        <p:spPr>
          <a:xfrm>
            <a:off x="1016000" y="1270000"/>
            <a:ext cx="889000" cy="0"/>
          </a:xfrm>
          <a:prstGeom prst="line">
            <a:avLst/>
          </a:prstGeom>
          <a:ln w="635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C451C8E5-D7A6-B0AE-94C3-C1821848EA1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05000"/>
            <a:ext cx="6604000" cy="38481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6B4DBA7-F126-4C78-27A8-5A6DBD60E677}"/>
              </a:ext>
            </a:extLst>
          </p:cNvPr>
          <p:cNvSpPr/>
          <p:nvPr/>
        </p:nvSpPr>
        <p:spPr>
          <a:xfrm>
            <a:off x="7874000" y="1905000"/>
            <a:ext cx="3556000" cy="38481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>
                <a:solidFill>
                  <a:srgbClr val="334155"/>
                </a:solidFill>
                <a:latin typeface="Microsoft YaHei UI" panose="020B0503020204020204" pitchFamily="34" charset="-122"/>
              </a:rPr>
              <a:t>关键洞察</a:t>
            </a:r>
          </a:p>
          <a:p>
            <a:endParaRPr lang="zh-CN" altLang="en-US" sz="1400">
              <a:solidFill>
                <a:srgbClr val="334155"/>
              </a:solidFill>
              <a:latin typeface="Microsoft YaHei UI" panose="020B0503020204020204" pitchFamily="34" charset="-122"/>
            </a:endParaRPr>
          </a:p>
          <a:p>
            <a:r>
              <a:rPr lang="en-US" altLang="zh-CN" sz="1400">
                <a:solidFill>
                  <a:srgbClr val="334155"/>
                </a:solidFill>
                <a:latin typeface="Microsoft YaHei U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334155"/>
                </a:solidFill>
                <a:latin typeface="Microsoft YaHei UI" panose="020B0503020204020204" pitchFamily="34" charset="-122"/>
              </a:rPr>
              <a:t>本期六个月全面高于上期</a:t>
            </a:r>
          </a:p>
          <a:p>
            <a:r>
              <a:rPr lang="en-US" altLang="zh-CN" sz="1400">
                <a:solidFill>
                  <a:srgbClr val="334155"/>
                </a:solidFill>
                <a:latin typeface="Microsoft YaHei UI" panose="020B0503020204020204" pitchFamily="34" charset="-122"/>
              </a:rPr>
              <a:t>· 6 </a:t>
            </a:r>
            <a:r>
              <a:rPr lang="zh-CN" altLang="en-US" sz="1400">
                <a:solidFill>
                  <a:srgbClr val="334155"/>
                </a:solidFill>
                <a:latin typeface="Microsoft YaHei UI" panose="020B0503020204020204" pitchFamily="34" charset="-122"/>
              </a:rPr>
              <a:t>月触达区间峰值 </a:t>
            </a:r>
            <a:r>
              <a:rPr lang="en-US" altLang="zh-CN" sz="1400">
                <a:solidFill>
                  <a:srgbClr val="334155"/>
                </a:solidFill>
                <a:latin typeface="Microsoft YaHei UI" panose="020B0503020204020204" pitchFamily="34" charset="-122"/>
              </a:rPr>
              <a:t>96</a:t>
            </a:r>
          </a:p>
          <a:p>
            <a:r>
              <a:rPr lang="en-US" altLang="zh-CN" sz="1400">
                <a:solidFill>
                  <a:srgbClr val="334155"/>
                </a:solidFill>
                <a:latin typeface="Microsoft YaHei U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334155"/>
                </a:solidFill>
                <a:latin typeface="Microsoft YaHei UI" panose="020B0503020204020204" pitchFamily="34" charset="-122"/>
              </a:rPr>
              <a:t>环比增幅逐月扩大</a:t>
            </a:r>
          </a:p>
          <a:p>
            <a:r>
              <a:rPr lang="en-US" altLang="zh-CN" sz="1400">
                <a:solidFill>
                  <a:srgbClr val="334155"/>
                </a:solidFill>
                <a:latin typeface="Microsoft YaHei U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334155"/>
                </a:solidFill>
                <a:latin typeface="Microsoft YaHei UI" panose="020B0503020204020204" pitchFamily="34" charset="-122"/>
              </a:rPr>
              <a:t>增长动能未见衰减</a:t>
            </a:r>
          </a:p>
        </p:txBody>
      </p:sp>
    </p:spTree>
    <p:extLst>
      <p:ext uri="{BB962C8B-B14F-4D97-AF65-F5344CB8AC3E}">
        <p14:creationId xmlns:p14="http://schemas.microsoft.com/office/powerpoint/2010/main" val="220805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E1CD68-27D3-41DE-8120-0DC01DE5E7BE}"/>
              </a:ext>
            </a:extLst>
          </p:cNvPr>
          <p:cNvSpPr txBox="1"/>
          <p:nvPr/>
        </p:nvSpPr>
        <p:spPr>
          <a:xfrm>
            <a:off x="1016000" y="558800"/>
            <a:ext cx="508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 b="1">
                <a:solidFill>
                  <a:srgbClr val="0F172A"/>
                </a:solidFill>
              </a:rPr>
              <a:t>方案对比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26782B7-602A-37A5-4EF0-269224D96F06}"/>
              </a:ext>
            </a:extLst>
          </p:cNvPr>
          <p:cNvCxnSpPr/>
          <p:nvPr/>
        </p:nvCxnSpPr>
        <p:spPr>
          <a:xfrm>
            <a:off x="1016000" y="1270000"/>
            <a:ext cx="889000" cy="0"/>
          </a:xfrm>
          <a:prstGeom prst="line">
            <a:avLst/>
          </a:prstGeom>
          <a:ln w="635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9135F1C-B17C-6F70-3834-B0AF104AC793}"/>
              </a:ext>
            </a:extLst>
          </p:cNvPr>
          <p:cNvSpPr/>
          <p:nvPr/>
        </p:nvSpPr>
        <p:spPr>
          <a:xfrm>
            <a:off x="762000" y="1905000"/>
            <a:ext cx="5207000" cy="393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E5C42A-16D4-056D-3E4B-2A5EA8362B5C}"/>
              </a:ext>
            </a:extLst>
          </p:cNvPr>
          <p:cNvSpPr/>
          <p:nvPr/>
        </p:nvSpPr>
        <p:spPr>
          <a:xfrm>
            <a:off x="762000" y="1905000"/>
            <a:ext cx="5207000" cy="6858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 UI" panose="020B0503020204020204" pitchFamily="34" charset="-122"/>
              </a:rPr>
              <a:t>现状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8D3981C-D132-4C40-22F4-D4DDA50CB166}"/>
              </a:ext>
            </a:extLst>
          </p:cNvPr>
          <p:cNvSpPr/>
          <p:nvPr/>
        </p:nvSpPr>
        <p:spPr>
          <a:xfrm>
            <a:off x="6223000" y="1905000"/>
            <a:ext cx="5207000" cy="393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B4F833-6453-50F9-8690-08F8FE632978}"/>
              </a:ext>
            </a:extLst>
          </p:cNvPr>
          <p:cNvSpPr/>
          <p:nvPr/>
        </p:nvSpPr>
        <p:spPr>
          <a:xfrm>
            <a:off x="6223000" y="1905000"/>
            <a:ext cx="5207000" cy="685800"/>
          </a:xfrm>
          <a:prstGeom prst="rect">
            <a:avLst/>
          </a:prstGeom>
          <a:solidFill>
            <a:srgbClr val="2DD4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0F172A"/>
                </a:solidFill>
                <a:latin typeface="Microsoft YaHei UI" panose="020B0503020204020204" pitchFamily="34" charset="-122"/>
              </a:rPr>
              <a:t>目标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3B25FA-89C2-E55F-F6DC-C2F5B8E5E5AC}"/>
              </a:ext>
            </a:extLst>
          </p:cNvPr>
          <p:cNvSpPr txBox="1"/>
          <p:nvPr/>
        </p:nvSpPr>
        <p:spPr>
          <a:xfrm>
            <a:off x="1168400" y="2895600"/>
            <a:ext cx="444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>
                <a:solidFill>
                  <a:srgbClr val="334155"/>
                </a:solidFill>
              </a:rPr>
              <a:t>· </a:t>
            </a:r>
            <a:r>
              <a:rPr lang="zh-CN" altLang="en-US" sz="1500">
                <a:solidFill>
                  <a:srgbClr val="334155"/>
                </a:solidFill>
              </a:rPr>
              <a:t>手动整理，单份耗时 </a:t>
            </a:r>
            <a:r>
              <a:rPr lang="en-US" altLang="zh-CN" sz="1500">
                <a:solidFill>
                  <a:srgbClr val="334155"/>
                </a:solidFill>
              </a:rPr>
              <a:t>40 </a:t>
            </a:r>
            <a:r>
              <a:rPr lang="zh-CN" altLang="en-US" sz="1500">
                <a:solidFill>
                  <a:srgbClr val="334155"/>
                </a:solidFill>
              </a:rPr>
              <a:t>分钟</a:t>
            </a:r>
          </a:p>
          <a:p>
            <a:r>
              <a:rPr lang="en-US" altLang="zh-CN" sz="1500">
                <a:solidFill>
                  <a:srgbClr val="334155"/>
                </a:solidFill>
              </a:rPr>
              <a:t>· </a:t>
            </a:r>
            <a:r>
              <a:rPr lang="zh-CN" altLang="en-US" sz="1500">
                <a:solidFill>
                  <a:srgbClr val="334155"/>
                </a:solidFill>
              </a:rPr>
              <a:t>版本分散，难以追溯</a:t>
            </a:r>
          </a:p>
          <a:p>
            <a:r>
              <a:rPr lang="en-US" altLang="zh-CN" sz="1500">
                <a:solidFill>
                  <a:srgbClr val="334155"/>
                </a:solidFill>
              </a:rPr>
              <a:t>· </a:t>
            </a:r>
            <a:r>
              <a:rPr lang="zh-CN" altLang="en-US" sz="1500">
                <a:solidFill>
                  <a:srgbClr val="334155"/>
                </a:solidFill>
              </a:rPr>
              <a:t>图表依赖截图，清晰度差</a:t>
            </a:r>
          </a:p>
          <a:p>
            <a:r>
              <a:rPr lang="en-US" altLang="zh-CN" sz="1500">
                <a:solidFill>
                  <a:srgbClr val="334155"/>
                </a:solidFill>
              </a:rPr>
              <a:t>· </a:t>
            </a:r>
            <a:r>
              <a:rPr lang="zh-CN" altLang="en-US" sz="1500">
                <a:solidFill>
                  <a:srgbClr val="334155"/>
                </a:solidFill>
              </a:rPr>
              <a:t>无统一视觉规范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965A14-1BE2-586A-C51E-2B546842A542}"/>
              </a:ext>
            </a:extLst>
          </p:cNvPr>
          <p:cNvSpPr txBox="1"/>
          <p:nvPr/>
        </p:nvSpPr>
        <p:spPr>
          <a:xfrm>
            <a:off x="6629400" y="2895600"/>
            <a:ext cx="444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>
                <a:solidFill>
                  <a:srgbClr val="334155"/>
                </a:solidFill>
              </a:rPr>
              <a:t>· </a:t>
            </a:r>
            <a:r>
              <a:rPr lang="zh-CN" altLang="en-US" sz="1500">
                <a:solidFill>
                  <a:srgbClr val="334155"/>
                </a:solidFill>
              </a:rPr>
              <a:t>模板化生成，单份 </a:t>
            </a:r>
            <a:r>
              <a:rPr lang="en-US" altLang="zh-CN" sz="1500">
                <a:solidFill>
                  <a:srgbClr val="334155"/>
                </a:solidFill>
              </a:rPr>
              <a:t>&lt; 2 </a:t>
            </a:r>
            <a:r>
              <a:rPr lang="zh-CN" altLang="en-US" sz="1500">
                <a:solidFill>
                  <a:srgbClr val="334155"/>
                </a:solidFill>
              </a:rPr>
              <a:t>分钟</a:t>
            </a:r>
          </a:p>
          <a:p>
            <a:r>
              <a:rPr lang="en-US" altLang="zh-CN" sz="1500">
                <a:solidFill>
                  <a:srgbClr val="334155"/>
                </a:solidFill>
              </a:rPr>
              <a:t>· </a:t>
            </a:r>
            <a:r>
              <a:rPr lang="zh-CN" altLang="en-US" sz="1500">
                <a:solidFill>
                  <a:srgbClr val="334155"/>
                </a:solidFill>
              </a:rPr>
              <a:t>单一数据源，全程可追溯</a:t>
            </a:r>
          </a:p>
          <a:p>
            <a:r>
              <a:rPr lang="en-US" altLang="zh-CN" sz="1500">
                <a:solidFill>
                  <a:srgbClr val="334155"/>
                </a:solidFill>
              </a:rPr>
              <a:t>· </a:t>
            </a:r>
            <a:r>
              <a:rPr lang="zh-CN" altLang="en-US" sz="1500">
                <a:solidFill>
                  <a:srgbClr val="334155"/>
                </a:solidFill>
              </a:rPr>
              <a:t>矢量图表，无限缩放</a:t>
            </a:r>
          </a:p>
          <a:p>
            <a:r>
              <a:rPr lang="en-US" altLang="zh-CN" sz="1500">
                <a:solidFill>
                  <a:srgbClr val="334155"/>
                </a:solidFill>
              </a:rPr>
              <a:t>· </a:t>
            </a:r>
            <a:r>
              <a:rPr lang="zh-CN" altLang="en-US" sz="1500">
                <a:solidFill>
                  <a:srgbClr val="334155"/>
                </a:solidFill>
              </a:rPr>
              <a:t>统一设计系统，品牌一致</a:t>
            </a:r>
          </a:p>
        </p:txBody>
      </p:sp>
    </p:spTree>
    <p:extLst>
      <p:ext uri="{BB962C8B-B14F-4D97-AF65-F5344CB8AC3E}">
        <p14:creationId xmlns:p14="http://schemas.microsoft.com/office/powerpoint/2010/main" val="4231519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D62644-43E0-F02F-9CDA-6550EC0CAF43}"/>
              </a:ext>
            </a:extLst>
          </p:cNvPr>
          <p:cNvSpPr txBox="1"/>
          <p:nvPr/>
        </p:nvSpPr>
        <p:spPr>
          <a:xfrm>
            <a:off x="1016000" y="558800"/>
            <a:ext cx="508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 b="1">
                <a:solidFill>
                  <a:srgbClr val="0F172A"/>
                </a:solidFill>
              </a:rPr>
              <a:t>实施路线图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23575B2-DFC8-63F5-8518-E82AB04CF488}"/>
              </a:ext>
            </a:extLst>
          </p:cNvPr>
          <p:cNvCxnSpPr/>
          <p:nvPr/>
        </p:nvCxnSpPr>
        <p:spPr>
          <a:xfrm>
            <a:off x="1016000" y="1270000"/>
            <a:ext cx="889000" cy="0"/>
          </a:xfrm>
          <a:prstGeom prst="line">
            <a:avLst/>
          </a:prstGeom>
          <a:ln w="635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17F686C-A76B-A6B9-57D1-EABF28F08BD3}"/>
              </a:ext>
            </a:extLst>
          </p:cNvPr>
          <p:cNvCxnSpPr/>
          <p:nvPr/>
        </p:nvCxnSpPr>
        <p:spPr>
          <a:xfrm>
            <a:off x="1651000" y="3810000"/>
            <a:ext cx="9144000" cy="0"/>
          </a:xfrm>
          <a:prstGeom prst="line">
            <a:avLst/>
          </a:prstGeom>
          <a:ln w="381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6F45641D-6EF8-ADA8-43D2-C92D3EE28366}"/>
              </a:ext>
            </a:extLst>
          </p:cNvPr>
          <p:cNvSpPr/>
          <p:nvPr/>
        </p:nvSpPr>
        <p:spPr>
          <a:xfrm>
            <a:off x="1447800" y="3606800"/>
            <a:ext cx="406400" cy="406400"/>
          </a:xfrm>
          <a:prstGeom prst="ellipse">
            <a:avLst/>
          </a:prstGeom>
          <a:solidFill>
            <a:srgbClr val="2DD4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EFE64B5-EC40-B027-DAD7-E3577D1A9FF6}"/>
              </a:ext>
            </a:extLst>
          </p:cNvPr>
          <p:cNvSpPr/>
          <p:nvPr/>
        </p:nvSpPr>
        <p:spPr>
          <a:xfrm>
            <a:off x="4495800" y="3606800"/>
            <a:ext cx="406400" cy="406400"/>
          </a:xfrm>
          <a:prstGeom prst="ellipse">
            <a:avLst/>
          </a:prstGeom>
          <a:solidFill>
            <a:srgbClr val="2DD4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BEF5DE3-E819-4181-2418-EAC1E9F23842}"/>
              </a:ext>
            </a:extLst>
          </p:cNvPr>
          <p:cNvSpPr/>
          <p:nvPr/>
        </p:nvSpPr>
        <p:spPr>
          <a:xfrm>
            <a:off x="7543800" y="3606800"/>
            <a:ext cx="406400" cy="406400"/>
          </a:xfrm>
          <a:prstGeom prst="ellipse">
            <a:avLst/>
          </a:prstGeom>
          <a:solidFill>
            <a:srgbClr val="2DD4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B8DA1A7-0E2F-5C6E-1501-489AF0C8DAE3}"/>
              </a:ext>
            </a:extLst>
          </p:cNvPr>
          <p:cNvSpPr/>
          <p:nvPr/>
        </p:nvSpPr>
        <p:spPr>
          <a:xfrm>
            <a:off x="10591800" y="3606800"/>
            <a:ext cx="406400" cy="406400"/>
          </a:xfrm>
          <a:prstGeom prst="ellipse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83206C-73AE-5AC8-4ED6-B603CF1B4A58}"/>
              </a:ext>
            </a:extLst>
          </p:cNvPr>
          <p:cNvSpPr txBox="1"/>
          <p:nvPr/>
        </p:nvSpPr>
        <p:spPr>
          <a:xfrm>
            <a:off x="635000" y="2946400"/>
            <a:ext cx="203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300">
                <a:solidFill>
                  <a:srgbClr val="94A3B8"/>
                </a:solidFill>
              </a:rPr>
              <a:t>Q1 · </a:t>
            </a:r>
            <a:r>
              <a:rPr lang="zh-CN" altLang="en-US" sz="1300">
                <a:solidFill>
                  <a:srgbClr val="94A3B8"/>
                </a:solidFill>
              </a:rPr>
              <a:t>立项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4C9AC0-8B23-DDFE-4444-D47354D9A9D7}"/>
              </a:ext>
            </a:extLst>
          </p:cNvPr>
          <p:cNvSpPr txBox="1"/>
          <p:nvPr/>
        </p:nvSpPr>
        <p:spPr>
          <a:xfrm>
            <a:off x="3683000" y="2946400"/>
            <a:ext cx="203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300">
                <a:solidFill>
                  <a:srgbClr val="94A3B8"/>
                </a:solidFill>
              </a:rPr>
              <a:t>Q2 · </a:t>
            </a:r>
            <a:r>
              <a:rPr lang="zh-CN" altLang="en-US" sz="1300">
                <a:solidFill>
                  <a:srgbClr val="94A3B8"/>
                </a:solidFill>
              </a:rPr>
              <a:t>开发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58993F-7894-7EA3-DA5D-8BBBA4664880}"/>
              </a:ext>
            </a:extLst>
          </p:cNvPr>
          <p:cNvSpPr txBox="1"/>
          <p:nvPr/>
        </p:nvSpPr>
        <p:spPr>
          <a:xfrm>
            <a:off x="6731000" y="2946400"/>
            <a:ext cx="203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300">
                <a:solidFill>
                  <a:srgbClr val="94A3B8"/>
                </a:solidFill>
              </a:rPr>
              <a:t>Q3 · </a:t>
            </a:r>
            <a:r>
              <a:rPr lang="zh-CN" altLang="en-US" sz="1300">
                <a:solidFill>
                  <a:srgbClr val="94A3B8"/>
                </a:solidFill>
              </a:rPr>
              <a:t>试点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27434E-CACA-7EC9-1E84-AE3554DD08AD}"/>
              </a:ext>
            </a:extLst>
          </p:cNvPr>
          <p:cNvSpPr txBox="1"/>
          <p:nvPr/>
        </p:nvSpPr>
        <p:spPr>
          <a:xfrm>
            <a:off x="9779000" y="2946400"/>
            <a:ext cx="203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300">
                <a:solidFill>
                  <a:srgbClr val="94A3B8"/>
                </a:solidFill>
              </a:rPr>
              <a:t>Q4 · </a:t>
            </a:r>
            <a:r>
              <a:rPr lang="zh-CN" altLang="en-US" sz="1300">
                <a:solidFill>
                  <a:srgbClr val="94A3B8"/>
                </a:solidFill>
              </a:rPr>
              <a:t>推广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9DF1D4-43AD-9F48-55E2-6F5C3661A3CB}"/>
              </a:ext>
            </a:extLst>
          </p:cNvPr>
          <p:cNvSpPr txBox="1"/>
          <p:nvPr/>
        </p:nvSpPr>
        <p:spPr>
          <a:xfrm>
            <a:off x="508000" y="40894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F172A"/>
                </a:solidFill>
              </a:rPr>
              <a:t>需求调研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7027529-A553-249D-14EF-DF7AD21FDF6B}"/>
              </a:ext>
            </a:extLst>
          </p:cNvPr>
          <p:cNvSpPr txBox="1"/>
          <p:nvPr/>
        </p:nvSpPr>
        <p:spPr>
          <a:xfrm>
            <a:off x="3556000" y="40894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F172A"/>
                </a:solidFill>
              </a:rPr>
              <a:t>模板引擎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0E56F15-96D1-6424-7E9D-D972802369D5}"/>
              </a:ext>
            </a:extLst>
          </p:cNvPr>
          <p:cNvSpPr txBox="1"/>
          <p:nvPr/>
        </p:nvSpPr>
        <p:spPr>
          <a:xfrm>
            <a:off x="6604000" y="40894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F172A"/>
                </a:solidFill>
              </a:rPr>
              <a:t>内部试用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981768-C380-15B7-7B7B-424EFA07F35C}"/>
              </a:ext>
            </a:extLst>
          </p:cNvPr>
          <p:cNvSpPr txBox="1"/>
          <p:nvPr/>
        </p:nvSpPr>
        <p:spPr>
          <a:xfrm>
            <a:off x="9652000" y="40894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F172A"/>
                </a:solidFill>
              </a:rPr>
              <a:t>全员开放</a:t>
            </a:r>
          </a:p>
        </p:txBody>
      </p:sp>
    </p:spTree>
    <p:extLst>
      <p:ext uri="{BB962C8B-B14F-4D97-AF65-F5344CB8AC3E}">
        <p14:creationId xmlns:p14="http://schemas.microsoft.com/office/powerpoint/2010/main" val="1957044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F1B0DD7-0505-5C48-DE55-3CC6C5F07E9F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3B8CB0-5FC4-3BAE-97FC-27C32A638F50}"/>
              </a:ext>
            </a:extLst>
          </p:cNvPr>
          <p:cNvSpPr txBox="1"/>
          <p:nvPr/>
        </p:nvSpPr>
        <p:spPr>
          <a:xfrm>
            <a:off x="1651000" y="2413000"/>
            <a:ext cx="889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4800" b="1">
                <a:solidFill>
                  <a:srgbClr val="FFFFFF"/>
                </a:solidFill>
              </a:rPr>
              <a:t>谢谢观看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19837A-AEA5-EC24-FA7C-F99C0C9CDFCA}"/>
              </a:ext>
            </a:extLst>
          </p:cNvPr>
          <p:cNvSpPr txBox="1"/>
          <p:nvPr/>
        </p:nvSpPr>
        <p:spPr>
          <a:xfrm>
            <a:off x="1651000" y="3581400"/>
            <a:ext cx="889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>
                <a:solidFill>
                  <a:srgbClr val="94A3B8"/>
                </a:solidFill>
              </a:rPr>
              <a:t>Q&amp;A · DSH Hub</a:t>
            </a:r>
            <a:endParaRPr lang="zh-CN" altLang="en-US">
              <a:solidFill>
                <a:srgbClr val="94A3B8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8E1F979-0B4B-56A8-DA9B-B25106C4BB0D}"/>
              </a:ext>
            </a:extLst>
          </p:cNvPr>
          <p:cNvCxnSpPr/>
          <p:nvPr/>
        </p:nvCxnSpPr>
        <p:spPr>
          <a:xfrm>
            <a:off x="5461000" y="4521200"/>
            <a:ext cx="1270000" cy="0"/>
          </a:xfrm>
          <a:prstGeom prst="line">
            <a:avLst/>
          </a:prstGeom>
          <a:ln w="508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009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PresentationFormat>自定义</PresentationFormat>
  <Paragraphs>51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 UI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XIU Player</dc:creator>
  <cp:lastModifiedBy>XIU Player</cp:lastModifiedBy>
  <cp:revision>1</cp:revision>
  <dcterms:created xsi:type="dcterms:W3CDTF">2026-09-12T02:10:45Z</dcterms:created>
  <dcterms:modified xsi:type="dcterms:W3CDTF">2026-09-12T02:10:45Z</dcterms:modified>
</cp:coreProperties>
</file>